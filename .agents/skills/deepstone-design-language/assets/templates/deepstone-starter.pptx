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0c4503b03e4e77" /><Relationship Type="http://schemas.openxmlformats.org/officeDocument/2006/relationships/extended-properties" Target="/docProps/app.xml" Id="R72e6305807ea43b4" /><Relationship Type="http://schemas.openxmlformats.org/officeDocument/2006/relationships/officeDocument" Target="/ppt/presentation.xml" Id="R743b19b4c33e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8b858ac9cc4ba5"/>
  </p:sldMasterIdLst>
  <p:notesMasterIdLst>
    <p:notesMasterId xmlns:r="http://schemas.openxmlformats.org/officeDocument/2006/relationships" r:id="Ra175ee1aae154c0f"/>
  </p:notesMasterIdLst>
  <p:sldIdLst>
    <p:sldId xmlns:r="http://schemas.openxmlformats.org/officeDocument/2006/relationships" id="256" r:id="R3cf99fa4505f4ef5"/>
    <p:sldId xmlns:r="http://schemas.openxmlformats.org/officeDocument/2006/relationships" id="257" r:id="R10421805725440e5"/>
    <p:sldId xmlns:r="http://schemas.openxmlformats.org/officeDocument/2006/relationships" id="258" r:id="Rc630161aa7ec4a28"/>
    <p:sldId xmlns:r="http://schemas.openxmlformats.org/officeDocument/2006/relationships" id="259" r:id="R0e09f30c2e2742ea"/>
    <p:sldId xmlns:r="http://schemas.openxmlformats.org/officeDocument/2006/relationships" id="260" r:id="Rf8f4a7cc549a42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ffe73ce34e4b7b" /><Relationship Type="http://schemas.openxmlformats.org/officeDocument/2006/relationships/slideMaster" Target="/ppt/slideMasters/slideMaster1.xml" Id="R3e8b858ac9cc4ba5" /><Relationship Type="http://schemas.openxmlformats.org/officeDocument/2006/relationships/notesMaster" Target="/ppt/notesMasters/notesMaster1.xml" Id="Ra175ee1aae154c0f" /><Relationship Type="http://schemas.openxmlformats.org/officeDocument/2006/relationships/presProps" Target="/ppt/presProps.xml" Id="R63aa289b316f403b" /><Relationship Type="http://schemas.openxmlformats.org/officeDocument/2006/relationships/tableStyles" Target="/ppt/tableStyles.xml" Id="R7a381cf394724e20" /><Relationship Type="http://schemas.openxmlformats.org/officeDocument/2006/relationships/slide" Target="/ppt/slides/slide1.xml" Id="R3cf99fa4505f4ef5" /><Relationship Type="http://schemas.openxmlformats.org/officeDocument/2006/relationships/slide" Target="/ppt/slides/slide2.xml" Id="R10421805725440e5" /><Relationship Type="http://schemas.openxmlformats.org/officeDocument/2006/relationships/slide" Target="/ppt/slides/slide3.xml" Id="Rc630161aa7ec4a28" /><Relationship Type="http://schemas.openxmlformats.org/officeDocument/2006/relationships/slide" Target="/ppt/slides/slide4.xml" Id="R0e09f30c2e2742ea" /><Relationship Type="http://schemas.openxmlformats.org/officeDocument/2006/relationships/slide" Target="/ppt/slides/slide5.xml" Id="Rf8f4a7cc549a42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cd2300daa644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4c612832834392" /><Relationship Type="http://schemas.openxmlformats.org/officeDocument/2006/relationships/notesMaster" Target="/ppt/notesMasters/notesMaster1.xml" Id="R160d76d6fea14d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a094a7e0394e4c" /><Relationship Type="http://schemas.openxmlformats.org/officeDocument/2006/relationships/notesMaster" Target="/ppt/notesMasters/notesMaster1.xml" Id="Re44196a556e446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1055f53d2747ec" /><Relationship Type="http://schemas.openxmlformats.org/officeDocument/2006/relationships/notesMaster" Target="/ppt/notesMasters/notesMaster1.xml" Id="R042ca9e55d4448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047cdbfdd54036" /><Relationship Type="http://schemas.openxmlformats.org/officeDocument/2006/relationships/notesMaster" Target="/ppt/notesMasters/notesMaster1.xml" Id="R652b1966845741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660e157bcb4471" /><Relationship Type="http://schemas.openxmlformats.org/officeDocument/2006/relationships/notesMaster" Target="/ppt/notesMasters/notesMaster1.xml" Id="R2cd6825918d7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1d71d51c148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97ac050c7f4560" /><Relationship Type="http://schemas.openxmlformats.org/officeDocument/2006/relationships/slideLayout" Target="/ppt/slideLayouts/slideLayout1.xml" Id="R43efa1e8f61841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efa1e8f61841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4c903c5e4379" /><Relationship Type="http://schemas.openxmlformats.org/officeDocument/2006/relationships/image" Target="/ppt/media/image.png" Id="R198df024db8f4f8c" /><Relationship Type="http://schemas.openxmlformats.org/officeDocument/2006/relationships/notesSlide" Target="/ppt/notesSlides/notesSlide1.xml" Id="R149f8b1be67c46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ae0756e1d4ff8" /><Relationship Type="http://schemas.openxmlformats.org/officeDocument/2006/relationships/image" Target="/ppt/media/image2.png" Id="Re21d576927744190" /><Relationship Type="http://schemas.openxmlformats.org/officeDocument/2006/relationships/notesSlide" Target="/ppt/notesSlides/notesSlide2.xml" Id="R2a47c59d19b249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8d3756ea84ecb" /><Relationship Type="http://schemas.openxmlformats.org/officeDocument/2006/relationships/image" Target="/ppt/media/image3.png" Id="Re45c3fcce288433a" /><Relationship Type="http://schemas.openxmlformats.org/officeDocument/2006/relationships/notesSlide" Target="/ppt/notesSlides/notesSlide3.xml" Id="R4d2475e86a1b46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fbe3c8d9b4a09" /><Relationship Type="http://schemas.openxmlformats.org/officeDocument/2006/relationships/image" Target="/ppt/media/image4.png" Id="R4afb2ac6f49045b1" /><Relationship Type="http://schemas.openxmlformats.org/officeDocument/2006/relationships/notesSlide" Target="/ppt/notesSlides/notesSlide4.xml" Id="R8704912522d245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69254c10a4d95" /><Relationship Type="http://schemas.openxmlformats.org/officeDocument/2006/relationships/image" Target="/ppt/media/image5.png" Id="R846dea217b8c4afe" /><Relationship Type="http://schemas.openxmlformats.org/officeDocument/2006/relationships/notesSlide" Target="/ppt/notesSlides/notesSlide5.xml" Id="Rea9dd290da2f4e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df024db8f4f8c"/>
          <a:stretch xmlns:a="http://schemas.openxmlformats.org/drawingml/2006/main"/>
        </p:blipFill>
        <p:spPr>
          <a:xfrm xmlns:a="http://schemas.openxmlformats.org/drawingml/2006/main">
            <a:off x="690334" y="228600"/>
            <a:ext cx="1419683" cy="438150"/>
          </a:xfrm>
          <a:prstGeom xmlns:a="http://schemas.openxmlformats.org/drawingml/2006/main" prst="rect">
            <a:avLst/>
          </a:prstGeom>
        </p:spPr>
      </p:pic>
      <p:sp>
        <p:nvSpPr>
          <p:cNvPr id="2" name="chrome-page-1">
            <a:extLst xmlns:a="http://schemas.openxmlformats.org/drawingml/2006/main">
              <a:ext uri="{FF2B5EF4-FFF2-40B4-BE49-F238E27FC236}">
                <a16:creationId xmlns:a16="http://schemas.microsoft.com/office/drawing/2014/main" id="{24F9DAD6-A98F-49FA-9251-250E64A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CCDA"/>
                </a:solidFill>
                <a:latin typeface="EB Garamond"/>
                <a:ea typeface="EB Garamond"/>
                <a:cs typeface="EB Garamond"/>
              </a:defRPr>
            </a:pPr>
            <a:r>
              <a:rPr sz="900" b="1">
                <a:solidFill>
                  <a:srgbClr val="C9CCDA"/>
                </a:solidFill>
                <a:latin typeface="EB Garamond"/>
                <a:ea typeface="EB Garamond"/>
                <a:cs typeface="EB Garamond"/>
              </a:rPr>
              <a:t>01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E30C6D6-FDF1-4D0D-9E1B-E2472D18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8E2"/>
                </a:solidFill>
                <a:latin typeface="EB Garamond"/>
                <a:ea typeface="EB Garamond"/>
                <a:cs typeface="EB Garamond"/>
              </a:defRPr>
            </a:pPr>
            <a:r>
              <a:rPr sz="1050" b="1">
                <a:solidFill>
                  <a:srgbClr val="D8D8E2"/>
                </a:solidFill>
                <a:latin typeface="EB Garamond"/>
                <a:ea typeface="EB Garamond"/>
                <a:cs typeface="EB Garamond"/>
              </a:rPr>
              <a:t>AI CROSS-FORMAT STANDARD · V1.0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BF4FE66-37BA-43FE-820E-3A86A3DE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334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EB Garamond"/>
                <a:ea typeface="EB Garamond"/>
                <a:cs typeface="EB Garamond"/>
              </a:defRPr>
            </a:pPr>
            <a:r>
              <a:rPr sz="4125" b="1">
                <a:solidFill>
                  <a:srgbClr val="FFFFFF"/>
                </a:solidFill>
                <a:latin typeface="EB Garamond"/>
                <a:ea typeface="EB Garamond"/>
                <a:cs typeface="EB Garamond"/>
              </a:rPr>
              <a:t>ONE DESIGN LANGUAGE.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EB Garamond"/>
                <a:ea typeface="EB Garamond"/>
                <a:cs typeface="EB Garamond"/>
              </a:defRPr>
            </a:pPr>
            <a:r>
              <a:rPr sz="4125" b="1">
                <a:solidFill>
                  <a:srgbClr val="FFFFFF"/>
                </a:solidFill>
                <a:latin typeface="EB Garamond"/>
                <a:ea typeface="EB Garamond"/>
                <a:cs typeface="EB Garamond"/>
              </a:rPr>
              <a:t>EVERY CLIENT EXPRESSION.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1212F92-3855-4450-94B2-A954C63E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8E2"/>
                </a:solidFill>
                <a:latin typeface="EB Garamond"/>
                <a:ea typeface="EB Garamond"/>
                <a:cs typeface="EB Garamond"/>
              </a:defRPr>
            </a:pPr>
            <a:r>
              <a:rPr sz="1650" b="0">
                <a:solidFill>
                  <a:srgbClr val="D8D8E2"/>
                </a:solidFill>
                <a:latin typeface="EB Garamond"/>
                <a:ea typeface="EB Garamond"/>
                <a:cs typeface="EB Garamond"/>
              </a:rPr>
              <a:t>A shared visual grammar for HTML, Word, PowerPoint, and PDF.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8E4A3E83-802B-4869-ABF8-99D0ACA2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54DC89C9-96CA-402A-BFDA-CF1F4848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8E2"/>
                </a:solidFill>
                <a:latin typeface="EB Garamond"/>
                <a:ea typeface="EB Garamond"/>
                <a:cs typeface="EB Garamond"/>
              </a:defRPr>
            </a:pPr>
            <a:r>
              <a:rPr sz="1050" b="0">
                <a:solidFill>
                  <a:srgbClr val="D8D8E2"/>
                </a:solidFill>
                <a:latin typeface="EB Garamond"/>
                <a:ea typeface="EB Garamond"/>
                <a:cs typeface="EB Garamond"/>
              </a:rPr>
              <a:t>Structured · Editorial · Technical · Premium · Human</a:t>
            </a:r>
          </a:p>
        </p:txBody>
      </p:sp>
      <p:sp>
        <p:nvSpPr>
          <p:cNvPr id="8" name="cover-cn">
            <a:extLst xmlns:a="http://schemas.openxmlformats.org/drawingml/2006/main">
              <a:ext uri="{FF2B5EF4-FFF2-40B4-BE49-F238E27FC236}">
                <a16:creationId xmlns:a16="http://schemas.microsoft.com/office/drawing/2014/main" id="{FD16F232-D302-4A1C-B756-47292482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007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D8E2"/>
                </a:solidFill>
                <a:latin typeface="Swei B2 Serif CJKtc"/>
                <a:ea typeface="Swei B2 Serif CJKtc"/>
                <a:cs typeface="Swei B2 Serif CJKtc"/>
              </a:defRPr>
            </a:pPr>
            <a:r>
              <a:rPr sz="975" b="0">
                <a:solidFill>
                  <a:srgbClr val="D8D8E2"/>
                </a:solidFill>
                <a:latin typeface="Swei B2 Serif CJKtc"/>
                <a:ea typeface="Swei B2 Serif CJKtc"/>
                <a:cs typeface="Swei B2 Serif CJKtc"/>
              </a:rPr>
              <a:t>深石科技通用设计语言</a:t>
            </a:r>
          </a:p>
        </p:txBody>
      </p:sp>
    </p:spTree>
    <p:extLst>
      <p:ext uri="{BB962C8B-B14F-4D97-AF65-F5344CB8AC3E}">
        <p14:creationId xmlns:p14="http://schemas.microsoft.com/office/powerpoint/2010/main" val="1301223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d576927744190"/>
          <a:stretch xmlns:a="http://schemas.openxmlformats.org/drawingml/2006/main"/>
        </p:blipFill>
        <p:spPr>
          <a:xfrm xmlns:a="http://schemas.openxmlformats.org/drawingml/2006/main">
            <a:off x="690334" y="228600"/>
            <a:ext cx="1419683" cy="438150"/>
          </a:xfrm>
          <a:prstGeom xmlns:a="http://schemas.openxmlformats.org/drawingml/2006/main" prst="rect">
            <a:avLst/>
          </a:prstGeom>
        </p:spPr>
      </p:pic>
      <p:sp>
        <p:nvSpPr>
          <p:cNvPr id="2" name="chrome-page-2">
            <a:extLst xmlns:a="http://schemas.openxmlformats.org/drawingml/2006/main">
              <a:ext uri="{FF2B5EF4-FFF2-40B4-BE49-F238E27FC236}">
                <a16:creationId xmlns:a16="http://schemas.microsoft.com/office/drawing/2014/main" id="{E9AA4373-FCEC-4631-B9BD-37A3E9E4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900" b="1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02</a:t>
            </a:r>
          </a:p>
        </p:txBody>
      </p:sp>
      <p:sp>
        <p:nvSpPr>
          <p:cNvPr id="3" name="signature-eyebrow">
            <a:extLst xmlns:a="http://schemas.openxmlformats.org/drawingml/2006/main">
              <a:ext uri="{FF2B5EF4-FFF2-40B4-BE49-F238E27FC236}">
                <a16:creationId xmlns:a16="http://schemas.microsoft.com/office/drawing/2014/main" id="{5DF45DEB-508A-4914-99F6-D5A88784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4082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404082"/>
                </a:solidFill>
                <a:latin typeface="EB Garamond"/>
                <a:ea typeface="EB Garamond"/>
                <a:cs typeface="EB Garamond"/>
              </a:rPr>
              <a:t>01 / SIGNATURE</a:t>
            </a:r>
          </a:p>
        </p:txBody>
      </p:sp>
      <p:sp>
        <p:nvSpPr>
          <p:cNvPr id="4" name="signature-title">
            <a:extLst xmlns:a="http://schemas.openxmlformats.org/drawingml/2006/main">
              <a:ext uri="{FF2B5EF4-FFF2-40B4-BE49-F238E27FC236}">
                <a16:creationId xmlns:a16="http://schemas.microsoft.com/office/drawing/2014/main" id="{54C9257F-E683-487A-A56C-1DA1E6A0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3000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Trust comes from structure, not decoration.</a:t>
            </a:r>
          </a:p>
        </p:txBody>
      </p:sp>
      <p:sp>
        <p:nvSpPr>
          <p:cNvPr id="5" name="signature-lead">
            <a:extLst xmlns:a="http://schemas.openxmlformats.org/drawingml/2006/main">
              <a:ext uri="{FF2B5EF4-FFF2-40B4-BE49-F238E27FC236}">
                <a16:creationId xmlns:a16="http://schemas.microsoft.com/office/drawing/2014/main" id="{E50FD337-C8DA-4FF0-834B-1E57643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500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Every composition gives the audience one clear reading path.</a:t>
            </a:r>
          </a:p>
        </p:txBody>
      </p:sp>
      <p:sp>
        <p:nvSpPr>
          <p:cNvPr id="6" name="signature-rule-0">
            <a:extLst xmlns:a="http://schemas.openxmlformats.org/drawingml/2006/main">
              <a:ext uri="{FF2B5EF4-FFF2-40B4-BE49-F238E27FC236}">
                <a16:creationId xmlns:a16="http://schemas.microsoft.com/office/drawing/2014/main" id="{E108B273-C0B1-4DED-B85B-06EB385D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1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ignature-num-0">
            <a:extLst xmlns:a="http://schemas.openxmlformats.org/drawingml/2006/main">
              <a:ext uri="{FF2B5EF4-FFF2-40B4-BE49-F238E27FC236}">
                <a16:creationId xmlns:a16="http://schemas.microsoft.com/office/drawing/2014/main" id="{1F65F87D-FDC0-42A6-998D-3DC2E7F0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01</a:t>
            </a:r>
          </a:p>
        </p:txBody>
      </p:sp>
      <p:sp>
        <p:nvSpPr>
          <p:cNvPr id="8" name="signature-name-0">
            <a:extLst xmlns:a="http://schemas.openxmlformats.org/drawingml/2006/main">
              <a:ext uri="{FF2B5EF4-FFF2-40B4-BE49-F238E27FC236}">
                <a16:creationId xmlns:a16="http://schemas.microsoft.com/office/drawing/2014/main" id="{42594001-D7C9-4D1F-B80A-B36DC2C0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STRUCTURED</a:t>
            </a:r>
          </a:p>
        </p:txBody>
      </p:sp>
      <p:sp>
        <p:nvSpPr>
          <p:cNvPr id="9" name="signature-body-0">
            <a:extLst xmlns:a="http://schemas.openxmlformats.org/drawingml/2006/main">
              <a:ext uri="{FF2B5EF4-FFF2-40B4-BE49-F238E27FC236}">
                <a16:creationId xmlns:a16="http://schemas.microsoft.com/office/drawing/2014/main" id="{ABD58033-09ED-4AED-B978-71D3E6C3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247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200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Grid, alignment, and spacing establish order.</a:t>
            </a:r>
          </a:p>
        </p:txBody>
      </p:sp>
      <p:sp>
        <p:nvSpPr>
          <p:cNvPr id="10" name="signature-rule-1">
            <a:extLst xmlns:a="http://schemas.openxmlformats.org/drawingml/2006/main">
              <a:ext uri="{FF2B5EF4-FFF2-40B4-BE49-F238E27FC236}">
                <a16:creationId xmlns:a16="http://schemas.microsoft.com/office/drawing/2014/main" id="{43CFC9E7-620E-4314-8E1E-0E50F32E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670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ignature-num-1">
            <a:extLst xmlns:a="http://schemas.openxmlformats.org/drawingml/2006/main">
              <a:ext uri="{FF2B5EF4-FFF2-40B4-BE49-F238E27FC236}">
                <a16:creationId xmlns:a16="http://schemas.microsoft.com/office/drawing/2014/main" id="{F2E74838-BE85-498E-851F-8344620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76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02</a:t>
            </a:r>
          </a:p>
        </p:txBody>
      </p:sp>
      <p:sp>
        <p:nvSpPr>
          <p:cNvPr id="12" name="signature-name-1">
            <a:extLst xmlns:a="http://schemas.openxmlformats.org/drawingml/2006/main">
              <a:ext uri="{FF2B5EF4-FFF2-40B4-BE49-F238E27FC236}">
                <a16:creationId xmlns:a16="http://schemas.microsoft.com/office/drawing/2014/main" id="{91A1185C-6452-4463-82FC-49C88490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DARK ANCHORS</a:t>
            </a:r>
          </a:p>
        </p:txBody>
      </p:sp>
      <p:sp>
        <p:nvSpPr>
          <p:cNvPr id="13" name="signature-body-1">
            <a:extLst xmlns:a="http://schemas.openxmlformats.org/drawingml/2006/main">
              <a:ext uri="{FF2B5EF4-FFF2-40B4-BE49-F238E27FC236}">
                <a16:creationId xmlns:a16="http://schemas.microsoft.com/office/drawing/2014/main" id="{1FD6FD65-4B31-4327-8D5E-96589A4B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247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200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Navy carries openings and decisive actions.</a:t>
            </a:r>
          </a:p>
        </p:txBody>
      </p:sp>
      <p:sp>
        <p:nvSpPr>
          <p:cNvPr id="14" name="signature-rule-2">
            <a:extLst xmlns:a="http://schemas.openxmlformats.org/drawingml/2006/main">
              <a:ext uri="{FF2B5EF4-FFF2-40B4-BE49-F238E27FC236}">
                <a16:creationId xmlns:a16="http://schemas.microsoft.com/office/drawing/2014/main" id="{F32F4F10-A4F5-4CB3-A549-C33FD875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ignature-num-2">
            <a:extLst xmlns:a="http://schemas.openxmlformats.org/drawingml/2006/main">
              <a:ext uri="{FF2B5EF4-FFF2-40B4-BE49-F238E27FC236}">
                <a16:creationId xmlns:a16="http://schemas.microsoft.com/office/drawing/2014/main" id="{4080D590-B1C1-4069-9F5F-150AD5AB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03</a:t>
            </a:r>
          </a:p>
        </p:txBody>
      </p:sp>
      <p:sp>
        <p:nvSpPr>
          <p:cNvPr id="16" name="signature-name-2">
            <a:extLst xmlns:a="http://schemas.openxmlformats.org/drawingml/2006/main">
              <a:ext uri="{FF2B5EF4-FFF2-40B4-BE49-F238E27FC236}">
                <a16:creationId xmlns:a16="http://schemas.microsoft.com/office/drawing/2014/main" id="{3403CDC7-418B-40D5-8F57-E2B5962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SINGLE ACCENT</a:t>
            </a:r>
          </a:p>
        </p:txBody>
      </p:sp>
      <p:sp>
        <p:nvSpPr>
          <p:cNvPr id="17" name="signature-body-2">
            <a:extLst xmlns:a="http://schemas.openxmlformats.org/drawingml/2006/main">
              <a:ext uri="{FF2B5EF4-FFF2-40B4-BE49-F238E27FC236}">
                <a16:creationId xmlns:a16="http://schemas.microsoft.com/office/drawing/2014/main" id="{F777C78A-C89A-4073-AA70-6C56FEFA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2247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200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Royal blue appears only where attention matters.</a:t>
            </a:r>
          </a:p>
        </p:txBody>
      </p:sp>
      <p:sp>
        <p:nvSpPr>
          <p:cNvPr id="18" name="signature-rule-3">
            <a:extLst xmlns:a="http://schemas.openxmlformats.org/drawingml/2006/main">
              <a:ext uri="{FF2B5EF4-FFF2-40B4-BE49-F238E27FC236}">
                <a16:creationId xmlns:a16="http://schemas.microsoft.com/office/drawing/2014/main" id="{822EC12F-9ED5-48BA-8895-8402E828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ignature-num-3">
            <a:extLst xmlns:a="http://schemas.openxmlformats.org/drawingml/2006/main">
              <a:ext uri="{FF2B5EF4-FFF2-40B4-BE49-F238E27FC236}">
                <a16:creationId xmlns:a16="http://schemas.microsoft.com/office/drawing/2014/main" id="{94A265F3-5FF3-46B6-9D4F-A4C780F3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76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04</a:t>
            </a:r>
          </a:p>
        </p:txBody>
      </p:sp>
      <p:sp>
        <p:nvSpPr>
          <p:cNvPr id="20" name="signature-name-3">
            <a:extLst xmlns:a="http://schemas.openxmlformats.org/drawingml/2006/main">
              <a:ext uri="{FF2B5EF4-FFF2-40B4-BE49-F238E27FC236}">
                <a16:creationId xmlns:a16="http://schemas.microsoft.com/office/drawing/2014/main" id="{B38310FC-8BCC-4B17-B02D-71BF3348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MEDIUM-NATIVE</a:t>
            </a:r>
          </a:p>
        </p:txBody>
      </p:sp>
      <p:sp>
        <p:nvSpPr>
          <p:cNvPr id="21" name="signature-body-3">
            <a:extLst xmlns:a="http://schemas.openxmlformats.org/drawingml/2006/main">
              <a:ext uri="{FF2B5EF4-FFF2-40B4-BE49-F238E27FC236}">
                <a16:creationId xmlns:a16="http://schemas.microsoft.com/office/drawing/2014/main" id="{3AD0DD42-3A5B-449D-B33F-BAABF075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2247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200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Each format keeps its own physical logic.</a:t>
            </a:r>
          </a:p>
        </p:txBody>
      </p:sp>
    </p:spTree>
    <p:extLst>
      <p:ext uri="{BB962C8B-B14F-4D97-AF65-F5344CB8AC3E}">
        <p14:creationId xmlns:p14="http://schemas.microsoft.com/office/powerpoint/2010/main" val="1016762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c3fcce288433a"/>
          <a:stretch xmlns:a="http://schemas.openxmlformats.org/drawingml/2006/main"/>
        </p:blipFill>
        <p:spPr>
          <a:xfrm xmlns:a="http://schemas.openxmlformats.org/drawingml/2006/main">
            <a:off x="690334" y="228600"/>
            <a:ext cx="1419683" cy="438150"/>
          </a:xfrm>
          <a:prstGeom xmlns:a="http://schemas.openxmlformats.org/drawingml/2006/main" prst="rect">
            <a:avLst/>
          </a:prstGeom>
        </p:spPr>
      </p:pic>
      <p:sp>
        <p:nvSpPr>
          <p:cNvPr id="2" name="chrome-page-3">
            <a:extLst xmlns:a="http://schemas.openxmlformats.org/drawingml/2006/main">
              <a:ext uri="{FF2B5EF4-FFF2-40B4-BE49-F238E27FC236}">
                <a16:creationId xmlns:a16="http://schemas.microsoft.com/office/drawing/2014/main" id="{34499FDC-751A-42A9-9664-8ACB060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900" b="1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03</a:t>
            </a:r>
          </a:p>
        </p:txBody>
      </p:sp>
      <p:sp>
        <p:nvSpPr>
          <p:cNvPr id="3" name="system-eyebrow">
            <a:extLst xmlns:a="http://schemas.openxmlformats.org/drawingml/2006/main">
              <a:ext uri="{FF2B5EF4-FFF2-40B4-BE49-F238E27FC236}">
                <a16:creationId xmlns:a16="http://schemas.microsoft.com/office/drawing/2014/main" id="{B3B648A0-9EFB-4CA9-B1F0-28EEBED9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4082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404082"/>
                </a:solidFill>
                <a:latin typeface="EB Garamond"/>
                <a:ea typeface="EB Garamond"/>
                <a:cs typeface="EB Garamond"/>
              </a:rPr>
              <a:t>02 / SYSTEM</a:t>
            </a:r>
          </a:p>
        </p:txBody>
      </p:sp>
      <p:sp>
        <p:nvSpPr>
          <p:cNvPr id="4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71EDF945-AD33-4A9A-826A-6520BB6C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47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3000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One system. Four native expressions.</a:t>
            </a:r>
          </a:p>
        </p:txBody>
      </p:sp>
      <p:sp>
        <p:nvSpPr>
          <p:cNvPr id="5" name="system-copy">
            <a:extLst xmlns:a="http://schemas.openxmlformats.org/drawingml/2006/main">
              <a:ext uri="{FF2B5EF4-FFF2-40B4-BE49-F238E27FC236}">
                <a16:creationId xmlns:a16="http://schemas.microsoft.com/office/drawing/2014/main" id="{B0BCD843-D02E-47C6-9DFB-F7741C3A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425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Share tokens and hierarchy; adapt composition to the medium.</a:t>
            </a:r>
          </a:p>
        </p:txBody>
      </p:sp>
      <p:sp>
        <p:nvSpPr>
          <p:cNvPr id="6" name="system-index-0">
            <a:extLst xmlns:a="http://schemas.openxmlformats.org/drawingml/2006/main">
              <a:ext uri="{FF2B5EF4-FFF2-40B4-BE49-F238E27FC236}">
                <a16:creationId xmlns:a16="http://schemas.microsoft.com/office/drawing/2014/main" id="{1BE467B5-73BD-4090-9E70-9FF1711C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01</a:t>
            </a:r>
          </a:p>
        </p:txBody>
      </p:sp>
      <p:sp>
        <p:nvSpPr>
          <p:cNvPr id="7" name="system-format-0">
            <a:extLst xmlns:a="http://schemas.openxmlformats.org/drawingml/2006/main">
              <a:ext uri="{FF2B5EF4-FFF2-40B4-BE49-F238E27FC236}">
                <a16:creationId xmlns:a16="http://schemas.microsoft.com/office/drawing/2014/main" id="{071F71A1-9EDC-4D0D-9D36-B56DA4D1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875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HTML</a:t>
            </a:r>
          </a:p>
        </p:txBody>
      </p:sp>
      <p:sp>
        <p:nvSpPr>
          <p:cNvPr id="8" name="system-detail-0">
            <a:extLst xmlns:a="http://schemas.openxmlformats.org/drawingml/2006/main">
              <a:ext uri="{FF2B5EF4-FFF2-40B4-BE49-F238E27FC236}">
                <a16:creationId xmlns:a16="http://schemas.microsoft.com/office/drawing/2014/main" id="{56223F5B-13D7-43DA-BA90-A42CA8CF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350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Responsive · accessible · motion-aware</a:t>
            </a:r>
          </a:p>
        </p:txBody>
      </p:sp>
      <p:sp>
        <p:nvSpPr>
          <p:cNvPr id="9" name="system-line-0">
            <a:extLst xmlns:a="http://schemas.openxmlformats.org/drawingml/2006/main">
              <a:ext uri="{FF2B5EF4-FFF2-40B4-BE49-F238E27FC236}">
                <a16:creationId xmlns:a16="http://schemas.microsoft.com/office/drawing/2014/main" id="{D02970C3-0FD5-4FC1-A24B-7171409B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052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ystem-index-1">
            <a:extLst xmlns:a="http://schemas.openxmlformats.org/drawingml/2006/main">
              <a:ext uri="{FF2B5EF4-FFF2-40B4-BE49-F238E27FC236}">
                <a16:creationId xmlns:a16="http://schemas.microsoft.com/office/drawing/2014/main" id="{E089635F-67B4-4250-A046-D495DE0B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02</a:t>
            </a:r>
          </a:p>
        </p:txBody>
      </p:sp>
      <p:sp>
        <p:nvSpPr>
          <p:cNvPr id="11" name="system-format-1">
            <a:extLst xmlns:a="http://schemas.openxmlformats.org/drawingml/2006/main">
              <a:ext uri="{FF2B5EF4-FFF2-40B4-BE49-F238E27FC236}">
                <a16:creationId xmlns:a16="http://schemas.microsoft.com/office/drawing/2014/main" id="{CDE73D14-7205-4578-A8D6-49F75168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95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875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WORD</a:t>
            </a:r>
          </a:p>
        </p:txBody>
      </p:sp>
      <p:sp>
        <p:nvSpPr>
          <p:cNvPr id="12" name="system-detail-1">
            <a:extLst xmlns:a="http://schemas.openxmlformats.org/drawingml/2006/main">
              <a:ext uri="{FF2B5EF4-FFF2-40B4-BE49-F238E27FC236}">
                <a16:creationId xmlns:a16="http://schemas.microsoft.com/office/drawing/2014/main" id="{C36158C5-E407-4A82-AD57-E62179DF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350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Editorial reading · named styles</a:t>
            </a:r>
          </a:p>
        </p:txBody>
      </p:sp>
      <p:sp>
        <p:nvSpPr>
          <p:cNvPr id="13" name="system-line-1">
            <a:extLst xmlns:a="http://schemas.openxmlformats.org/drawingml/2006/main">
              <a:ext uri="{FF2B5EF4-FFF2-40B4-BE49-F238E27FC236}">
                <a16:creationId xmlns:a16="http://schemas.microsoft.com/office/drawing/2014/main" id="{726EA642-3AD5-464F-8019-A3081853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ystem-index-2">
            <a:extLst xmlns:a="http://schemas.openxmlformats.org/drawingml/2006/main">
              <a:ext uri="{FF2B5EF4-FFF2-40B4-BE49-F238E27FC236}">
                <a16:creationId xmlns:a16="http://schemas.microsoft.com/office/drawing/2014/main" id="{77EDE5D2-13BA-4858-BCB7-18567975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03</a:t>
            </a:r>
          </a:p>
        </p:txBody>
      </p:sp>
      <p:sp>
        <p:nvSpPr>
          <p:cNvPr id="15" name="system-format-2">
            <a:extLst xmlns:a="http://schemas.openxmlformats.org/drawingml/2006/main">
              <a:ext uri="{FF2B5EF4-FFF2-40B4-BE49-F238E27FC236}">
                <a16:creationId xmlns:a16="http://schemas.microsoft.com/office/drawing/2014/main" id="{A1F02EE3-2114-4ED9-959E-E7581F2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38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875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PPT</a:t>
            </a:r>
          </a:p>
        </p:txBody>
      </p:sp>
      <p:sp>
        <p:nvSpPr>
          <p:cNvPr id="16" name="system-detail-2">
            <a:extLst xmlns:a="http://schemas.openxmlformats.org/drawingml/2006/main">
              <a:ext uri="{FF2B5EF4-FFF2-40B4-BE49-F238E27FC236}">
                <a16:creationId xmlns:a16="http://schemas.microsoft.com/office/drawing/2014/main" id="{8436E775-EE30-4D38-99D1-024E29CF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350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One takeaway · projection-ready</a:t>
            </a:r>
          </a:p>
        </p:txBody>
      </p:sp>
      <p:sp>
        <p:nvSpPr>
          <p:cNvPr id="17" name="system-line-2">
            <a:extLst xmlns:a="http://schemas.openxmlformats.org/drawingml/2006/main">
              <a:ext uri="{FF2B5EF4-FFF2-40B4-BE49-F238E27FC236}">
                <a16:creationId xmlns:a16="http://schemas.microsoft.com/office/drawing/2014/main" id="{9EC4CC85-6332-491F-99C9-863F85E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11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ystem-index-3">
            <a:extLst xmlns:a="http://schemas.openxmlformats.org/drawingml/2006/main">
              <a:ext uri="{FF2B5EF4-FFF2-40B4-BE49-F238E27FC236}">
                <a16:creationId xmlns:a16="http://schemas.microsoft.com/office/drawing/2014/main" id="{717ADC17-31F2-4FB0-B24F-F394EA05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04</a:t>
            </a:r>
          </a:p>
        </p:txBody>
      </p:sp>
      <p:sp>
        <p:nvSpPr>
          <p:cNvPr id="19" name="system-format-3">
            <a:extLst xmlns:a="http://schemas.openxmlformats.org/drawingml/2006/main">
              <a:ext uri="{FF2B5EF4-FFF2-40B4-BE49-F238E27FC236}">
                <a16:creationId xmlns:a16="http://schemas.microsoft.com/office/drawing/2014/main" id="{E2033017-970D-4E6D-9E1A-5D87AC37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81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875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PDF</a:t>
            </a:r>
          </a:p>
        </p:txBody>
      </p:sp>
      <p:sp>
        <p:nvSpPr>
          <p:cNvPr id="20" name="system-detail-3">
            <a:extLst xmlns:a="http://schemas.openxmlformats.org/drawingml/2006/main">
              <a:ext uri="{FF2B5EF4-FFF2-40B4-BE49-F238E27FC236}">
                <a16:creationId xmlns:a16="http://schemas.microsoft.com/office/drawing/2014/main" id="{56678A18-DA8F-4DD4-90F8-44970F47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81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350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Stable pagination · page-by-page QA</a:t>
            </a:r>
          </a:p>
        </p:txBody>
      </p:sp>
      <p:sp>
        <p:nvSpPr>
          <p:cNvPr id="21" name="system-line-3">
            <a:extLst xmlns:a="http://schemas.openxmlformats.org/drawingml/2006/main">
              <a:ext uri="{FF2B5EF4-FFF2-40B4-BE49-F238E27FC236}">
                <a16:creationId xmlns:a16="http://schemas.microsoft.com/office/drawing/2014/main" id="{13C05808-D681-41CF-8632-C2ED738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340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E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4254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b2ac6f49045b1"/>
          <a:stretch xmlns:a="http://schemas.openxmlformats.org/drawingml/2006/main"/>
        </p:blipFill>
        <p:spPr>
          <a:xfrm xmlns:a="http://schemas.openxmlformats.org/drawingml/2006/main">
            <a:off x="690334" y="228600"/>
            <a:ext cx="1419683" cy="438150"/>
          </a:xfrm>
          <a:prstGeom xmlns:a="http://schemas.openxmlformats.org/drawingml/2006/main" prst="rect">
            <a:avLst/>
          </a:prstGeom>
        </p:spPr>
      </p:pic>
      <p:sp>
        <p:nvSpPr>
          <p:cNvPr id="2" name="chrome-page-4">
            <a:extLst xmlns:a="http://schemas.openxmlformats.org/drawingml/2006/main">
              <a:ext uri="{FF2B5EF4-FFF2-40B4-BE49-F238E27FC236}">
                <a16:creationId xmlns:a16="http://schemas.microsoft.com/office/drawing/2014/main" id="{4312993B-C5EF-486D-94AA-8A1E0996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900" b="1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04</a:t>
            </a:r>
          </a:p>
        </p:txBody>
      </p:sp>
      <p:sp>
        <p:nvSpPr>
          <p:cNvPr id="3" name="workflow-eyebrow">
            <a:extLst xmlns:a="http://schemas.openxmlformats.org/drawingml/2006/main">
              <a:ext uri="{FF2B5EF4-FFF2-40B4-BE49-F238E27FC236}">
                <a16:creationId xmlns:a16="http://schemas.microsoft.com/office/drawing/2014/main" id="{4C69411F-AEEA-4A0F-81B9-DBAC3902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4082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404082"/>
                </a:solidFill>
                <a:latin typeface="EB Garamond"/>
                <a:ea typeface="EB Garamond"/>
                <a:cs typeface="EB Garamond"/>
              </a:rPr>
              <a:t>03 / WORKFLOW</a:t>
            </a:r>
          </a:p>
        </p:txBody>
      </p:sp>
      <p:sp>
        <p:nvSpPr>
          <p:cNvPr id="4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144D425D-AEE9-4DBA-A048-AE635EA5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3000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Natural language becomes a governed artifact.</a:t>
            </a:r>
          </a:p>
        </p:txBody>
      </p:sp>
      <p:sp>
        <p:nvSpPr>
          <p:cNvPr id="5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7AF2E6B6-0146-4143-ABEA-5FB7AF9C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6954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E2"/>
            </a:solidFill>
            <a:prstDash val="solid"/>
          </a:ln>
        </p:spPr>
      </p:sp>
      <p:sp>
        <p:nvSpPr>
          <p:cNvPr id="6" name="workflow-num-0">
            <a:extLst xmlns:a="http://schemas.openxmlformats.org/drawingml/2006/main">
              <a:ext uri="{FF2B5EF4-FFF2-40B4-BE49-F238E27FC236}">
                <a16:creationId xmlns:a16="http://schemas.microsoft.com/office/drawing/2014/main" id="{8F626560-2C67-4185-81CA-63A9AE04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01</a:t>
            </a:r>
          </a:p>
        </p:txBody>
      </p:sp>
      <p:sp>
        <p:nvSpPr>
          <p:cNvPr id="7" name="workflow-name-0">
            <a:extLst xmlns:a="http://schemas.openxmlformats.org/drawingml/2006/main">
              <a:ext uri="{FF2B5EF4-FFF2-40B4-BE49-F238E27FC236}">
                <a16:creationId xmlns:a16="http://schemas.microsoft.com/office/drawing/2014/main" id="{9B7A2154-2D6E-4766-ABE7-57167F76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425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PARSE</a:t>
            </a:r>
          </a:p>
        </p:txBody>
      </p:sp>
      <p:sp>
        <p:nvSpPr>
          <p:cNvPr id="8" name="workflow-detail-0">
            <a:extLst xmlns:a="http://schemas.openxmlformats.org/drawingml/2006/main">
              <a:ext uri="{FF2B5EF4-FFF2-40B4-BE49-F238E27FC236}">
                <a16:creationId xmlns:a16="http://schemas.microsoft.com/office/drawing/2014/main" id="{99066FB1-E0F9-45D3-98BB-764F7DA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125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Audience, purpose, hierarchy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1E9D731-EEED-4BA5-81AE-4DC5631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16954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E2"/>
            </a:solidFill>
            <a:prstDash val="solid"/>
          </a:ln>
        </p:spPr>
      </p:sp>
      <p:sp>
        <p:nvSpPr>
          <p:cNvPr id="10" name="workflow-num-1">
            <a:extLst xmlns:a="http://schemas.openxmlformats.org/drawingml/2006/main">
              <a:ext uri="{FF2B5EF4-FFF2-40B4-BE49-F238E27FC236}">
                <a16:creationId xmlns:a16="http://schemas.microsoft.com/office/drawing/2014/main" id="{DDB054F1-C28E-49FA-B83D-A7EF839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02</a:t>
            </a:r>
          </a:p>
        </p:txBody>
      </p:sp>
      <p:sp>
        <p:nvSpPr>
          <p:cNvPr id="11" name="workflow-name-1">
            <a:extLst xmlns:a="http://schemas.openxmlformats.org/drawingml/2006/main">
              <a:ext uri="{FF2B5EF4-FFF2-40B4-BE49-F238E27FC236}">
                <a16:creationId xmlns:a16="http://schemas.microsoft.com/office/drawing/2014/main" id="{21D30924-5CE7-44E1-877B-0EFF38E5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425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STRUCTURE</a:t>
            </a:r>
          </a:p>
        </p:txBody>
      </p:sp>
      <p:sp>
        <p:nvSpPr>
          <p:cNvPr id="12" name="workflow-detail-1">
            <a:extLst xmlns:a="http://schemas.openxmlformats.org/drawingml/2006/main">
              <a:ext uri="{FF2B5EF4-FFF2-40B4-BE49-F238E27FC236}">
                <a16:creationId xmlns:a16="http://schemas.microsoft.com/office/drawing/2014/main" id="{254506A0-71EE-44AD-BF6F-6F0037EE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719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125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Claims, evidence, action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DC1C388-2619-4B4C-A55E-C7C91A69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76550"/>
            <a:ext cx="16954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E2"/>
            </a:solidFill>
            <a:prstDash val="solid"/>
          </a:ln>
        </p:spPr>
      </p:sp>
      <p:sp>
        <p:nvSpPr>
          <p:cNvPr id="14" name="workflow-num-2">
            <a:extLst xmlns:a="http://schemas.openxmlformats.org/drawingml/2006/main">
              <a:ext uri="{FF2B5EF4-FFF2-40B4-BE49-F238E27FC236}">
                <a16:creationId xmlns:a16="http://schemas.microsoft.com/office/drawing/2014/main" id="{05588DE7-FA87-420A-842D-8F3DC620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03</a:t>
            </a:r>
          </a:p>
        </p:txBody>
      </p:sp>
      <p:sp>
        <p:nvSpPr>
          <p:cNvPr id="15" name="workflow-name-2">
            <a:extLst xmlns:a="http://schemas.openxmlformats.org/drawingml/2006/main">
              <a:ext uri="{FF2B5EF4-FFF2-40B4-BE49-F238E27FC236}">
                <a16:creationId xmlns:a16="http://schemas.microsoft.com/office/drawing/2014/main" id="{BBACBD3D-5C3F-4730-BF91-160D866A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38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425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STYLE</a:t>
            </a:r>
          </a:p>
        </p:txBody>
      </p:sp>
      <p:sp>
        <p:nvSpPr>
          <p:cNvPr id="16" name="workflow-detail-2">
            <a:extLst xmlns:a="http://schemas.openxmlformats.org/drawingml/2006/main">
              <a:ext uri="{FF2B5EF4-FFF2-40B4-BE49-F238E27FC236}">
                <a16:creationId xmlns:a16="http://schemas.microsoft.com/office/drawing/2014/main" id="{B8BCF130-E2FC-446A-B897-4156DBD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719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125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Tokens and composition</a:t>
            </a:r>
          </a:p>
        </p:txBody>
      </p:sp>
      <p:sp>
        <p:nvSpPr>
          <p:cNvPr id="17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60372906-A7EB-4834-BD1A-306A8ED4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76550"/>
            <a:ext cx="16954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E2"/>
            </a:solidFill>
            <a:prstDash val="solid"/>
          </a:ln>
        </p:spPr>
      </p:sp>
      <p:sp>
        <p:nvSpPr>
          <p:cNvPr id="18" name="workflow-num-3">
            <a:extLst xmlns:a="http://schemas.openxmlformats.org/drawingml/2006/main">
              <a:ext uri="{FF2B5EF4-FFF2-40B4-BE49-F238E27FC236}">
                <a16:creationId xmlns:a16="http://schemas.microsoft.com/office/drawing/2014/main" id="{A00D8D4B-6099-4BA4-80DA-E3743D32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094197"/>
                </a:solidFill>
                <a:latin typeface="EB Garamond"/>
                <a:ea typeface="EB Garamond"/>
                <a:cs typeface="EB Garamond"/>
              </a:rPr>
              <a:t>04</a:t>
            </a:r>
          </a:p>
        </p:txBody>
      </p:sp>
      <p:sp>
        <p:nvSpPr>
          <p:cNvPr id="19" name="workflow-name-3">
            <a:extLst xmlns:a="http://schemas.openxmlformats.org/drawingml/2006/main">
              <a:ext uri="{FF2B5EF4-FFF2-40B4-BE49-F238E27FC236}">
                <a16:creationId xmlns:a16="http://schemas.microsoft.com/office/drawing/2014/main" id="{81E4F477-9E41-4CE4-84DD-8114478E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425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ADAPT</a:t>
            </a:r>
          </a:p>
        </p:txBody>
      </p:sp>
      <p:sp>
        <p:nvSpPr>
          <p:cNvPr id="20" name="workflow-detail-3">
            <a:extLst xmlns:a="http://schemas.openxmlformats.org/drawingml/2006/main">
              <a:ext uri="{FF2B5EF4-FFF2-40B4-BE49-F238E27FC236}">
                <a16:creationId xmlns:a16="http://schemas.microsoft.com/office/drawing/2014/main" id="{4D82BFCB-D7C9-4FBD-8EC7-46A4E4B9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719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267"/>
                </a:solidFill>
                <a:latin typeface="EB Garamond"/>
                <a:ea typeface="EB Garamond"/>
                <a:cs typeface="EB Garamond"/>
              </a:defRPr>
            </a:pPr>
            <a:r>
              <a:rPr sz="1125" b="0">
                <a:solidFill>
                  <a:srgbClr val="525267"/>
                </a:solidFill>
                <a:latin typeface="EB Garamond"/>
                <a:ea typeface="EB Garamond"/>
                <a:cs typeface="EB Garamond"/>
              </a:rPr>
              <a:t>Medium-native layout</a:t>
            </a:r>
          </a:p>
        </p:txBody>
      </p:sp>
      <p:sp>
        <p:nvSpPr>
          <p:cNvPr id="21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E91792AE-80D7-4CE1-AA97-34B72CAB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16954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39"/>
          </a:solidFill>
          <a:ln xmlns:a="http://schemas.openxmlformats.org/drawingml/2006/main" w="9525">
            <a:solidFill>
              <a:srgbClr val="141539"/>
            </a:solidFill>
            <a:prstDash val="solid"/>
          </a:ln>
        </p:spPr>
      </p:sp>
      <p:sp>
        <p:nvSpPr>
          <p:cNvPr id="22" name="workflow-num-4">
            <a:extLst xmlns:a="http://schemas.openxmlformats.org/drawingml/2006/main">
              <a:ext uri="{FF2B5EF4-FFF2-40B4-BE49-F238E27FC236}">
                <a16:creationId xmlns:a16="http://schemas.microsoft.com/office/drawing/2014/main" id="{52CECE1D-00A1-45F2-BCBE-4E2A99D5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D8E2"/>
                </a:solidFill>
                <a:latin typeface="EB Garamond"/>
                <a:ea typeface="EB Garamond"/>
                <a:cs typeface="EB Garamond"/>
              </a:defRPr>
            </a:pPr>
            <a:r>
              <a:rPr sz="975" b="1">
                <a:solidFill>
                  <a:srgbClr val="D8D8E2"/>
                </a:solidFill>
                <a:latin typeface="EB Garamond"/>
                <a:ea typeface="EB Garamond"/>
                <a:cs typeface="EB Garamond"/>
              </a:rPr>
              <a:t>05</a:t>
            </a:r>
          </a:p>
        </p:txBody>
      </p:sp>
      <p:sp>
        <p:nvSpPr>
          <p:cNvPr id="23" name="workflow-name-4">
            <a:extLst xmlns:a="http://schemas.openxmlformats.org/drawingml/2006/main">
              <a:ext uri="{FF2B5EF4-FFF2-40B4-BE49-F238E27FC236}">
                <a16:creationId xmlns:a16="http://schemas.microsoft.com/office/drawing/2014/main" id="{EE5A0B77-5912-4E87-AF65-D490EAA3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38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EB Garamond"/>
                <a:ea typeface="EB Garamond"/>
                <a:cs typeface="EB Garamond"/>
              </a:defRPr>
            </a:pPr>
            <a:r>
              <a:rPr sz="1425" b="1">
                <a:solidFill>
                  <a:srgbClr val="FFFFFF"/>
                </a:solidFill>
                <a:latin typeface="EB Garamond"/>
                <a:ea typeface="EB Garamond"/>
                <a:cs typeface="EB Garamond"/>
              </a:rPr>
              <a:t>VERIFY</a:t>
            </a:r>
          </a:p>
        </p:txBody>
      </p:sp>
      <p:sp>
        <p:nvSpPr>
          <p:cNvPr id="24" name="workflow-detail-4">
            <a:extLst xmlns:a="http://schemas.openxmlformats.org/drawingml/2006/main">
              <a:ext uri="{FF2B5EF4-FFF2-40B4-BE49-F238E27FC236}">
                <a16:creationId xmlns:a16="http://schemas.microsoft.com/office/drawing/2014/main" id="{D31C09B3-3612-4E91-ADA4-209E259F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719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8E2"/>
                </a:solidFill>
                <a:latin typeface="EB Garamond"/>
                <a:ea typeface="EB Garamond"/>
                <a:cs typeface="EB Garamond"/>
              </a:defRPr>
            </a:pPr>
            <a:r>
              <a:rPr sz="1125" b="0">
                <a:solidFill>
                  <a:srgbClr val="D8D8E2"/>
                </a:solidFill>
                <a:latin typeface="EB Garamond"/>
                <a:ea typeface="EB Garamond"/>
                <a:cs typeface="EB Garamond"/>
              </a:rPr>
              <a:t>Render and inspect</a:t>
            </a:r>
          </a:p>
        </p:txBody>
      </p:sp>
      <p:sp>
        <p:nvSpPr>
          <p:cNvPr id="25" name="workflow-prompt">
            <a:extLst xmlns:a="http://schemas.openxmlformats.org/drawingml/2006/main">
              <a:ext uri="{FF2B5EF4-FFF2-40B4-BE49-F238E27FC236}">
                <a16:creationId xmlns:a16="http://schemas.microsoft.com/office/drawing/2014/main" id="{E84AC16E-E737-47D4-96B0-9C12C95A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defRPr>
            </a:pPr>
            <a:r>
              <a:rPr sz="1350" b="1">
                <a:solidFill>
                  <a:srgbClr val="0A0A1E"/>
                </a:solidFill>
                <a:latin typeface="EB Garamond"/>
                <a:ea typeface="EB Garamond"/>
                <a:cs typeface="EB Garamond"/>
              </a:rPr>
              <a:t>“Use the Deepstone style to turn this client proposal into a board deck. Do not add unprovided data.”</a:t>
            </a:r>
          </a:p>
        </p:txBody>
      </p:sp>
    </p:spTree>
    <p:extLst>
      <p:ext uri="{BB962C8B-B14F-4D97-AF65-F5344CB8AC3E}">
        <p14:creationId xmlns:p14="http://schemas.microsoft.com/office/powerpoint/2010/main" val="1388072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5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dea217b8c4afe"/>
          <a:stretch xmlns:a="http://schemas.openxmlformats.org/drawingml/2006/main"/>
        </p:blipFill>
        <p:spPr>
          <a:xfrm xmlns:a="http://schemas.openxmlformats.org/drawingml/2006/main">
            <a:off x="690334" y="228600"/>
            <a:ext cx="1419683" cy="438150"/>
          </a:xfrm>
          <a:prstGeom xmlns:a="http://schemas.openxmlformats.org/drawingml/2006/main" prst="rect">
            <a:avLst/>
          </a:prstGeom>
        </p:spPr>
      </p:pic>
      <p:sp>
        <p:nvSpPr>
          <p:cNvPr id="2" name="chrome-page-5">
            <a:extLst xmlns:a="http://schemas.openxmlformats.org/drawingml/2006/main">
              <a:ext uri="{FF2B5EF4-FFF2-40B4-BE49-F238E27FC236}">
                <a16:creationId xmlns:a16="http://schemas.microsoft.com/office/drawing/2014/main" id="{8D649A4E-7B5D-456C-BDA7-7BC1AC54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CCDA"/>
                </a:solidFill>
                <a:latin typeface="EB Garamond"/>
                <a:ea typeface="EB Garamond"/>
                <a:cs typeface="EB Garamond"/>
              </a:defRPr>
            </a:pPr>
            <a:r>
              <a:rPr sz="900" b="1">
                <a:solidFill>
                  <a:srgbClr val="C9CCDA"/>
                </a:solidFill>
                <a:latin typeface="EB Garamond"/>
                <a:ea typeface="EB Garamond"/>
                <a:cs typeface="EB Garamond"/>
              </a:rPr>
              <a:t>05</a:t>
            </a:r>
          </a:p>
        </p:txBody>
      </p:sp>
      <p:sp>
        <p:nvSpPr>
          <p:cNvPr id="3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7A5014EF-F9B4-4AA8-A3D8-BCA9CB34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8E2"/>
                </a:solidFill>
                <a:latin typeface="EB Garamond"/>
                <a:ea typeface="EB Garamond"/>
                <a:cs typeface="EB Garamond"/>
              </a:defRPr>
            </a:pPr>
            <a:r>
              <a:rPr sz="1050" b="1">
                <a:solidFill>
                  <a:srgbClr val="D8D8E2"/>
                </a:solidFill>
                <a:latin typeface="EB Garamond"/>
                <a:ea typeface="EB Garamond"/>
                <a:cs typeface="EB Garamond"/>
              </a:rPr>
              <a:t>FIGMA-CALIBRATED CORE</a:t>
            </a:r>
          </a:p>
        </p:txBody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8671111-F2F5-44B4-BB17-C7101AAC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81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EB Garamond"/>
                <a:ea typeface="EB Garamond"/>
                <a:cs typeface="EB Garamond"/>
              </a:defRPr>
            </a:pPr>
            <a:r>
              <a:rPr sz="3450" b="1">
                <a:solidFill>
                  <a:srgbClr val="FFFFFF"/>
                </a:solidFill>
                <a:latin typeface="EB Garamond"/>
                <a:ea typeface="EB Garamond"/>
                <a:cs typeface="EB Garamond"/>
              </a:rPr>
              <a:t>Describe the audience, message, and output.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EB Garamond"/>
                <a:ea typeface="EB Garamond"/>
                <a:cs typeface="EB Garamond"/>
              </a:defRPr>
            </a:pPr>
            <a:r>
              <a:rPr sz="3450" b="1">
                <a:solidFill>
                  <a:srgbClr val="FFFFFF"/>
                </a:solidFill>
                <a:latin typeface="EB Garamond"/>
                <a:ea typeface="EB Garamond"/>
                <a:cs typeface="EB Garamond"/>
              </a:rPr>
              <a:t>The system handles the rest.</a:t>
            </a:r>
          </a:p>
        </p:txBody>
      </p:sp>
      <p:sp>
        <p:nvSpPr>
          <p:cNvPr id="5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0720D77C-7142-4C6E-82B3-676659B3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ing-left">
            <a:extLst xmlns:a="http://schemas.openxmlformats.org/drawingml/2006/main">
              <a:ext uri="{FF2B5EF4-FFF2-40B4-BE49-F238E27FC236}">
                <a16:creationId xmlns:a16="http://schemas.microsoft.com/office/drawing/2014/main" id="{853CDB0E-0E6D-4774-9FBC-08D1576D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8E2"/>
                </a:solidFill>
                <a:latin typeface="EB Garamond"/>
                <a:ea typeface="EB Garamond"/>
                <a:cs typeface="EB Garamond"/>
              </a:defRPr>
            </a:pPr>
            <a:r>
              <a:rPr sz="900" b="1">
                <a:solidFill>
                  <a:srgbClr val="D8D8E2"/>
                </a:solidFill>
                <a:latin typeface="EB Garamond"/>
                <a:ea typeface="EB Garamond"/>
                <a:cs typeface="EB Garamond"/>
              </a:rPr>
              <a:t>CURRENT</a:t>
            </a:r>
          </a:p>
        </p:txBody>
      </p:sp>
      <p:sp>
        <p:nvSpPr>
          <p:cNvPr id="7" name="closing-left-value">
            <a:extLst xmlns:a="http://schemas.openxmlformats.org/drawingml/2006/main">
              <a:ext uri="{FF2B5EF4-FFF2-40B4-BE49-F238E27FC236}">
                <a16:creationId xmlns:a16="http://schemas.microsoft.com/office/drawing/2014/main" id="{9098B8A0-1347-4EE9-BF2F-2C61B872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EB Garamond"/>
                <a:ea typeface="EB Garamond"/>
                <a:cs typeface="EB Garamond"/>
              </a:defRPr>
            </a:pPr>
            <a:r>
              <a:rPr sz="1650" b="1">
                <a:solidFill>
                  <a:srgbClr val="FFFFFF"/>
                </a:solidFill>
                <a:latin typeface="EB Garamond"/>
                <a:ea typeface="EB Garamond"/>
                <a:cs typeface="EB Garamond"/>
              </a:rPr>
              <a:t>Version 1.0</a:t>
            </a:r>
          </a:p>
        </p:txBody>
      </p:sp>
      <p:sp>
        <p:nvSpPr>
          <p:cNvPr id="8" name="closing-right">
            <a:extLst xmlns:a="http://schemas.openxmlformats.org/drawingml/2006/main">
              <a:ext uri="{FF2B5EF4-FFF2-40B4-BE49-F238E27FC236}">
                <a16:creationId xmlns:a16="http://schemas.microsoft.com/office/drawing/2014/main" id="{C0AE7CBB-C55B-4131-B9E4-91CCECB0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8E2"/>
                </a:solidFill>
                <a:latin typeface="EB Garamond"/>
                <a:ea typeface="EB Garamond"/>
                <a:cs typeface="EB Garamond"/>
              </a:defRPr>
            </a:pPr>
            <a:r>
              <a:rPr sz="900" b="1">
                <a:solidFill>
                  <a:srgbClr val="D8D8E2"/>
                </a:solidFill>
                <a:latin typeface="EB Garamond"/>
                <a:ea typeface="EB Garamond"/>
                <a:cs typeface="EB Garamond"/>
              </a:rPr>
              <a:t>NEXT</a:t>
            </a:r>
          </a:p>
        </p:txBody>
      </p:sp>
      <p:sp>
        <p:nvSpPr>
          <p:cNvPr id="9" name="closing-right-value">
            <a:extLst xmlns:a="http://schemas.openxmlformats.org/drawingml/2006/main">
              <a:ext uri="{FF2B5EF4-FFF2-40B4-BE49-F238E27FC236}">
                <a16:creationId xmlns:a16="http://schemas.microsoft.com/office/drawing/2014/main" id="{0835AEF5-4A2F-49DC-BEB6-D19B242E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74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EB Garamond"/>
                <a:ea typeface="EB Garamond"/>
                <a:cs typeface="EB Garamond"/>
              </a:defRPr>
            </a:pPr>
            <a:r>
              <a:rPr sz="1500" b="1">
                <a:solidFill>
                  <a:srgbClr val="FFFFFF"/>
                </a:solidFill>
                <a:latin typeface="EB Garamond"/>
                <a:ea typeface="EB Garamond"/>
                <a:cs typeface="EB Garamond"/>
              </a:rPr>
              <a:t>Generate native deliverables from one verified content map.</a:t>
            </a:r>
          </a:p>
        </p:txBody>
      </p:sp>
    </p:spTree>
    <p:extLst>
      <p:ext uri="{BB962C8B-B14F-4D97-AF65-F5344CB8AC3E}">
        <p14:creationId xmlns:p14="http://schemas.microsoft.com/office/powerpoint/2010/main" val="1445696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2026-08-10T16:37:05.4090000Z</dcterms:created>
  <dcterms:modified xsi:type="dcterms:W3CDTF">2026-08-10T16:37:05.4090000Z</dcterms:modified>
</coreProperties>
</file>